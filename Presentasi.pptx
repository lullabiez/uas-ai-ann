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5" r:id="rId18"/>
    <p:sldId id="274" r:id="rId19"/>
    <p:sldId id="276" r:id="rId20"/>
    <p:sldId id="277" r:id="rId21"/>
    <p:sldId id="273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64" d="100"/>
          <a:sy n="64" d="100"/>
        </p:scale>
        <p:origin x="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38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625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40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642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81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74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748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550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07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478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551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5191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303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379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003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7704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4472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763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56EB59C-228B-4BB3-9059-A5594798CB3D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0964D-1FF3-4E89-8193-17CB74B97A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4216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1CD0-DD80-4ACE-9F57-6349A63F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PROYEK AKHIR AI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Dosen</a:t>
            </a:r>
            <a:r>
              <a:rPr lang="en-ID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Pengampu</a:t>
            </a:r>
            <a:r>
              <a:rPr lang="en-ID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H. M. Faisal Amin, </a:t>
            </a:r>
            <a:r>
              <a:rPr lang="en-ID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M.Kom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8D993-55D2-40D4-A61C-7CD8807F9D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4128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Melatih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Syaraf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Backpropagation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Kebangkrutan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Perusahaan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Oleh : Adi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Darmana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 : 310125023966</a:t>
            </a: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Tinggi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Banjarbaru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  <a:p>
            <a:pPr marL="0" indent="0" algn="ctr">
              <a:buNone/>
            </a:pP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110C-E13C-4ABF-A040-2E814444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213" y="1574800"/>
            <a:ext cx="10511573" cy="4990011"/>
          </a:xfrm>
        </p:spPr>
        <p:txBody>
          <a:bodyPr>
            <a:noAutofit/>
          </a:bodyPr>
          <a:lstStyle/>
          <a:p>
            <a:pPr algn="l"/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 : 310125023966 | 4 digit: 3966 Multiplier : 0.3966 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Learning : 1.0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: 0.01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Konstanta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: 2.71828183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TRAINING (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skalasi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1: x1=0.9, x2=0.4, t=1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2: x1=0.73, x2=0.85, t=0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↳ [Hasil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dikalikan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0.3966] target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TRAINING (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skalasi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1: x1 = 0.356940, x2 = 0.158640, t = 1</a:t>
            </a: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2: x1 = 0.289518, x2 = 0.337110, t = 0</a:t>
            </a:r>
            <a:b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7874A3-9EA2-40BC-9F61-5923468A1A7A}"/>
              </a:ext>
            </a:extLst>
          </p:cNvPr>
          <p:cNvSpPr txBox="1">
            <a:spLocks/>
          </p:cNvSpPr>
          <p:nvPr/>
        </p:nvSpPr>
        <p:spPr>
          <a:xfrm>
            <a:off x="4609713" y="183452"/>
            <a:ext cx="10511573" cy="7375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AWAL </a:t>
            </a:r>
            <a:endParaRPr lang="en-ID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48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9D7C-1024-4249-B8DF-F81AD315C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762"/>
            <a:ext cx="10515600" cy="6266046"/>
          </a:xfrm>
        </p:spPr>
        <p:txBody>
          <a:bodyPr>
            <a:normAutofit fontScale="25000" lnSpcReduction="20000"/>
          </a:bodyPr>
          <a:lstStyle/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•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input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 (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Acak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Mentah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v11=0.9562   v12=0.7762   v13=0.1623   v14=0.2886 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v21=0.1962   v22=0.6133   v23=0.0311   v24=0.9711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ID" sz="8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↳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[Hasil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setelah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dikalikan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0.3966]: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v11=0.379229  v12=0.307841  v13=0.064368  v14=0.114459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v21=0.077813  v22=0.243235  v23=0.012334  v24=0.385138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------------------------------------------------------------------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•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bias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 (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Acak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Mentah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V01=0.7496   V02=0.3796   V03=0.7256   V04=0.1628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ID" sz="8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↳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[Hasil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setelah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dikalikan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0.3966]: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v01=0.297291  v02=0.150549  v03=0.287773  v04=0.064566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------------------------------------------------------------------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•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 (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Acak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Mentah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w1=0.2280    w2=0.9585    w3=0.6799    w4=0.0550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ID" sz="8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↳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[Hasil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setelah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dikalikan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0.3966]: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w1 =0.090425  w2 =0.380141  w3 =0.269648  w4 =0.021813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------------------------------------------------------------------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•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bias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 (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Acak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Mentah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):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w0=0.9505   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ID" sz="8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↳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[Hasil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setelah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8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dikalikan</a:t>
            </a:r>
            <a:r>
              <a:rPr lang="en-ID" sz="8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0.3966]: w0=0.376968</a:t>
            </a:r>
            <a:endParaRPr lang="en-ID" sz="8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711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194D-9536-472E-8F46-A6CA2CF5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037"/>
          </a:xfrm>
        </p:spPr>
        <p:txBody>
          <a:bodyPr>
            <a:normAutofit fontScale="90000"/>
          </a:bodyPr>
          <a:lstStyle/>
          <a:p>
            <a:r>
              <a:rPr lang="en-ID" sz="4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EPOCH 1 - DATA 1</a:t>
            </a:r>
            <a:b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24E10-090B-4F66-9DB7-E8A03AD2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9077"/>
            <a:ext cx="10515600" cy="12801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OPERASI PADA HIDDEN LAYER</a:t>
            </a:r>
          </a:p>
          <a:p>
            <a:pPr>
              <a:buFont typeface="Wingdings" panose="05000000000000000000" pitchFamily="2" charset="2"/>
              <a:buChar char="v"/>
            </a:pPr>
            <a:endParaRPr lang="en-ID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44532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00F4-5CC5-44FB-98AC-DDBB697E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9268"/>
            <a:ext cx="10515600" cy="1325563"/>
          </a:xfrm>
        </p:spPr>
        <p:txBody>
          <a:bodyPr>
            <a:normAutofit fontScale="90000"/>
          </a:bodyPr>
          <a:lstStyle/>
          <a:p>
            <a:pPr marL="0" indent="0" algn="ctr"/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Rumus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Penjumlahan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Terbobot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z_in</a:t>
            </a:r>
            <a:r>
              <a:rPr lang="en-ID" sz="31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br>
              <a:rPr lang="en-ID" sz="3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ID" sz="3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3100" cap="non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3100" cap="none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v0</a:t>
            </a:r>
            <a:r>
              <a:rPr lang="en-ID" sz="3100" cap="none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(v1</a:t>
            </a:r>
            <a:r>
              <a:rPr lang="en-ID" sz="3100" cap="none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x1)+(v2</a:t>
            </a:r>
            <a:r>
              <a:rPr lang="en-ID" sz="3100" cap="none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ID" sz="3100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x2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ID" sz="4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D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DC71E-BA86-419C-ADAA-E50320637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966"/>
            <a:ext cx="10515600" cy="47331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sz="2800" b="1" cap="non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Diketahui</a:t>
            </a:r>
            <a:r>
              <a:rPr lang="en-ID" sz="2800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v01=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0.297291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v02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0.150549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v03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0.287773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v04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0.064566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v11=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0.379229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v12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0.307841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v13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0.064368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v14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0.114459 </a:t>
            </a:r>
            <a:endParaRPr lang="en-ID" sz="28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v21=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0.077813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v22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0.243235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v23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0.012334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v24 = </a:t>
            </a:r>
            <a:r>
              <a:rPr lang="en-ID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0.385138</a:t>
            </a:r>
          </a:p>
          <a:p>
            <a:pPr marL="0" marR="521970" indent="0">
              <a:spcBef>
                <a:spcPts val="305"/>
              </a:spcBef>
              <a:buNone/>
            </a:pP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</a:t>
            </a:r>
            <a:r>
              <a:rPr lang="en-ID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0.356940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 = </a:t>
            </a:r>
            <a:r>
              <a:rPr lang="en-ID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0.158640</a:t>
            </a:r>
            <a:br>
              <a:rPr lang="en-ID" sz="2800" dirty="0"/>
            </a:br>
            <a:endParaRPr lang="en-ID" sz="2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= 0.297291 + (0.379229 x 0.356940) + (0.077813 x 0.158640) = 0.297291 + 0.135362 + 0.012344 = 0.444998 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= 0.150549 + (0.307841 x 0.356940) + (0.243235 x 0.158640) = 0.150549 + 0.109881 + 0.038587 = 0.299017 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= 0.287773 + (0.064368 x 0.356940 ) + ( 0.012334 x 0.158640) = 0.287773 + 0.022976 + 0.001957 = 0.312705 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= 0.064566 + (0.114459 x 0.356940) + ( 0.385138 x 0.158640) = 0.064566 + 0.040855 + 0.061098 = 0.166520 </a:t>
            </a:r>
          </a:p>
          <a:p>
            <a:pPr marL="0" indent="0">
              <a:buNone/>
            </a:pPr>
            <a:endParaRPr lang="en-ID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2685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87A106-37C0-4646-8AD3-C56C464065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313847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ID" sz="2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Rumus</a:t>
                </a:r>
                <a: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pengaktifan</a:t>
                </a:r>
                <a: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(z)</a:t>
                </a:r>
                <a:b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en-ID" sz="3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3200" cap="none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 </a:t>
                </a:r>
                <a:r>
                  <a:rPr lang="en-ID" sz="3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3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3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32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D" sz="32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sz="32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en-ID" sz="32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_</m:t>
                                </m:r>
                              </m:e>
                              <m:sub>
                                <m:r>
                                  <a:rPr lang="en-ID" sz="32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𝑖𝑛𝑖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br>
                  <a:rPr lang="en-ID" sz="1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br>
                  <a:rPr lang="en-ID" sz="3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br>
                  <a:rPr lang="en-ID" sz="3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br>
                  <a:rPr lang="en-ID" sz="1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endParaRPr lang="en-ID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87A106-37C0-4646-8AD3-C56C46406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3138471"/>
              </a:xfrm>
              <a:blipFill>
                <a:blip r:embed="rId2"/>
                <a:stretch>
                  <a:fillRect t="-21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D990-8714-4DC7-B03E-0A61EF03B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5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= </a:t>
            </a:r>
            <a:r>
              <a:rPr lang="en-ID" sz="2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0.444998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= </a:t>
            </a:r>
            <a:r>
              <a:rPr lang="en-ID" sz="2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0.299017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= </a:t>
            </a:r>
            <a:r>
              <a:rPr lang="en-ID" sz="2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0.312705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z_</a:t>
            </a:r>
            <a:r>
              <a:rPr lang="en-ID" sz="26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= </a:t>
            </a:r>
            <a:r>
              <a:rPr lang="en-ID" sz="2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0.166520</a:t>
            </a:r>
            <a:r>
              <a:rPr lang="en-ID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388E00-55EC-4751-8F23-E0EAB3A21D28}"/>
              </a:ext>
            </a:extLst>
          </p:cNvPr>
          <p:cNvSpPr txBox="1">
            <a:spLocks/>
          </p:cNvSpPr>
          <p:nvPr/>
        </p:nvSpPr>
        <p:spPr>
          <a:xfrm>
            <a:off x="769219" y="2800952"/>
            <a:ext cx="4389922" cy="3691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5B9A5B-720F-49D0-AFCD-FD89C402DE95}"/>
                  </a:ext>
                </a:extLst>
              </p:cNvPr>
              <p:cNvSpPr txBox="1"/>
              <p:nvPr/>
            </p:nvSpPr>
            <p:spPr>
              <a:xfrm>
                <a:off x="838200" y="2712451"/>
                <a:ext cx="3733800" cy="4284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2.71828183</m:t>
                            </m:r>
                          </m:e>
                          <m:sup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0.444998</m:t>
                            </m:r>
                          </m:sup>
                        </m:sSup>
                      </m:den>
                    </m:f>
                  </m:oMath>
                </a14:m>
                <a:endParaRPr lang="en-ID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0.609450</m:t>
                        </m:r>
                      </m:den>
                    </m:f>
                  </m:oMath>
                </a14:m>
                <a:endParaRPr lang="en-ID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0.609449</a:t>
                </a: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2.71828183</m:t>
                            </m:r>
                          </m:e>
                          <m:sup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0.299017 </m:t>
                            </m:r>
                          </m:sup>
                        </m:sSup>
                      </m:den>
                    </m:f>
                  </m:oMath>
                </a14:m>
                <a:endParaRPr lang="en-ID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1.741547</m:t>
                        </m:r>
                      </m:den>
                    </m:f>
                  </m:oMath>
                </a14:m>
                <a:endParaRPr lang="en-ID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521970" indent="0" algn="just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0.574202</a:t>
                </a:r>
              </a:p>
              <a:p>
                <a:endParaRPr lang="en-ID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5B9A5B-720F-49D0-AFCD-FD89C402D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12451"/>
                <a:ext cx="3733800" cy="4284634"/>
              </a:xfrm>
              <a:prstGeom prst="rect">
                <a:avLst/>
              </a:prstGeom>
              <a:blipFill>
                <a:blip r:embed="rId3"/>
                <a:stretch>
                  <a:fillRect l="-26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627452-9BB4-4FB2-883F-EA92423A8798}"/>
                  </a:ext>
                </a:extLst>
              </p:cNvPr>
              <p:cNvSpPr txBox="1"/>
              <p:nvPr/>
            </p:nvSpPr>
            <p:spPr>
              <a:xfrm>
                <a:off x="5753101" y="2712258"/>
                <a:ext cx="4507429" cy="4284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3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2.71828183</m:t>
                            </m:r>
                          </m:e>
                          <m:sup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0.312705  </m:t>
                            </m:r>
                          </m:sup>
                        </m:sSup>
                      </m:den>
                    </m:f>
                  </m:oMath>
                </a14:m>
                <a:endParaRPr lang="en-ID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3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1.731466</m:t>
                        </m:r>
                      </m:den>
                    </m:f>
                  </m:oMath>
                </a14:m>
                <a:endParaRPr lang="en-ID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3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0.577545</a:t>
                </a:r>
                <a:endParaRPr lang="en-ID" sz="24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 </a:t>
                </a:r>
                <a:endParaRPr lang="en-ID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4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2.71828183</m:t>
                            </m:r>
                          </m:e>
                          <m:sup>
                            <m:r>
                              <a:rPr lang="en-ID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0.166520   </m:t>
                            </m:r>
                          </m:sup>
                        </m:sSup>
                      </m:den>
                    </m:f>
                  </m:oMath>
                </a14:m>
                <a:endParaRPr lang="en-ID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4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1.846605</m:t>
                        </m:r>
                      </m:den>
                    </m:f>
                  </m:oMath>
                </a14:m>
                <a:endParaRPr lang="en-ID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z</a:t>
                </a:r>
                <a:r>
                  <a:rPr lang="en-ID" sz="24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4 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0.541534</a:t>
                </a:r>
                <a:endParaRPr lang="en-ID" sz="24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endParaRPr>
              </a:p>
              <a:p>
                <a:endParaRPr lang="en-ID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627452-9BB4-4FB2-883F-EA92423A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1" y="2712258"/>
                <a:ext cx="4507429" cy="4284827"/>
              </a:xfrm>
              <a:prstGeom prst="rect">
                <a:avLst/>
              </a:prstGeom>
              <a:blipFill>
                <a:blip r:embed="rId4"/>
                <a:stretch>
                  <a:fillRect l="-216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60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194D-9536-472E-8F46-A6CA2CF5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037"/>
          </a:xfrm>
        </p:spPr>
        <p:txBody>
          <a:bodyPr>
            <a:normAutofit fontScale="90000"/>
          </a:bodyPr>
          <a:lstStyle/>
          <a:p>
            <a:r>
              <a:rPr lang="en-ID" sz="4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EPOCH 1 - DATA 1</a:t>
            </a:r>
            <a:b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24E10-090B-4F66-9DB7-E8A03AD2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9077"/>
            <a:ext cx="10515600" cy="1280161"/>
          </a:xfrm>
        </p:spPr>
        <p:txBody>
          <a:bodyPr>
            <a:normAutofit/>
          </a:bodyPr>
          <a:lstStyle/>
          <a:p>
            <a:pPr marL="0" marR="521970" lvl="0" indent="0" algn="ctr">
              <a:lnSpc>
                <a:spcPct val="115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ID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OPERASI PADA OUTPUT LAYER</a:t>
            </a:r>
            <a:endParaRPr lang="en-ID" sz="36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D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54114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B4EC-9A76-44CA-823C-AFAA1403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521970" algn="ctr">
              <a:lnSpc>
                <a:spcPct val="115000"/>
              </a:lnSpc>
              <a:spcBef>
                <a:spcPts val="305"/>
              </a:spcBef>
            </a:pPr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Rumus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3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perkalian</a:t>
            </a:r>
            <a:r>
              <a:rPr lang="en-ID" sz="3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linier Combiner</a:t>
            </a:r>
            <a:br>
              <a:rPr lang="en-ID" sz="3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ID" sz="3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y_</a:t>
            </a:r>
            <a:r>
              <a:rPr lang="en-ID" sz="3100" cap="non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</a:t>
            </a:r>
            <a:r>
              <a:rPr lang="en-ID" sz="3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w0 + (w1*z1) + (w2 * z2) + (w3*z3) + (w4 * z4)</a:t>
            </a:r>
            <a:b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5032-EBC4-4359-BE27-30DD53B0F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Diketahui</a:t>
            </a:r>
            <a:r>
              <a:rPr lang="en-ID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0.609449 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0.574202 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0.577545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0.541534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w0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0.376968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w1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0.090425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w2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0.380141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w3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0.269648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w4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0.021813</a:t>
            </a:r>
          </a:p>
          <a:p>
            <a:endParaRPr lang="en-ID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y_</a:t>
            </a:r>
            <a:r>
              <a:rPr lang="en-ID" sz="3200" cap="non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0.376968 + (0.090425 * 0.609449) + (0.380141 * 0.574202) + (0.269648 * 0.577545) + (0.021813 * 0.541534) = </a:t>
            </a:r>
            <a:r>
              <a:rPr lang="en-ID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0.817902</a:t>
            </a: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1A94D2-8C4E-46F1-87E4-EEF8BC0A64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ctr"/>
                <a:b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br>
                  <a:rPr lang="en-ID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en-ID" sz="2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Rumus</a:t>
                </a:r>
                <a: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pengaktifkan</a:t>
                </a:r>
                <a: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(y)</a:t>
                </a:r>
                <a:br>
                  <a:rPr lang="en-ID" sz="2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r>
                  <a:rPr lang="en-ID" sz="36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36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ID" sz="36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p>
                        </m:sSup>
                      </m:den>
                    </m:f>
                  </m:oMath>
                </a14:m>
                <a:br>
                  <a:rPr lang="en-ID" sz="36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endParaRPr lang="en-ID" sz="60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1A94D2-8C4E-46F1-87E4-EEF8BC0A64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4347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20345-2399-4F04-ADDD-FAB8EFA17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83287" cy="47484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D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Diketahui</a:t>
                </a:r>
                <a:r>
                  <a:rPr lang="en-ID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:r>
                  <a:rPr lang="en-ID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y_</a:t>
                </a:r>
                <a:r>
                  <a:rPr lang="en-ID" cap="none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ID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0.817902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D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2.71828183</m:t>
                    </m:r>
                  </m:oMath>
                </a14:m>
                <a:endParaRPr lang="en-ID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1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ID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2.71828183</m:t>
                            </m:r>
                          </m:e>
                          <m:sup>
                            <m:r>
                              <a:rPr lang="en-ID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0.817902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D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1+0.441355</m:t>
                        </m:r>
                      </m:den>
                    </m:f>
                  </m:oMath>
                </a14:m>
                <a:r>
                  <a:rPr lang="en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D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1.441355</m:t>
                        </m:r>
                      </m:den>
                    </m:f>
                  </m:oMath>
                </a14:m>
                <a:r>
                  <a:rPr lang="en-ID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D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0.693791</a:t>
                </a:r>
              </a:p>
              <a:p>
                <a:pPr marL="0" indent="0">
                  <a:buNone/>
                </a:pPr>
                <a:endParaRPr lang="en-ID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521970" indent="0" algn="ctr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Rumus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error</a:t>
                </a:r>
                <a:r>
                  <a:rPr lang="en-ID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521970" indent="0" algn="ctr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r>
                  <a:rPr lang="en-ID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error = t – y</a:t>
                </a:r>
              </a:p>
              <a:p>
                <a:pPr marL="0" marR="521970" indent="0" algn="ctr">
                  <a:lnSpc>
                    <a:spcPct val="115000"/>
                  </a:lnSpc>
                  <a:spcBef>
                    <a:spcPts val="305"/>
                  </a:spcBef>
                  <a:buNone/>
                </a:pPr>
                <a:endParaRPr lang="en-ID" cap="none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error = 1- 0.693791 = </a:t>
                </a:r>
                <a:r>
                  <a:rPr lang="en-ID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0.306209</a:t>
                </a:r>
              </a:p>
              <a:p>
                <a:pPr marR="521970" algn="just">
                  <a:lnSpc>
                    <a:spcPct val="115000"/>
                  </a:lnSpc>
                  <a:spcBef>
                    <a:spcPts val="305"/>
                  </a:spcBef>
                </a:pP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error</a:t>
                </a:r>
                <a:r>
                  <a:rPr lang="en-ID" cap="none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ID" cap="none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mse</a:t>
                </a: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(0.306209)</a:t>
                </a:r>
                <a:r>
                  <a:rPr lang="en-ID" cap="none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ID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ID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0.093764</a:t>
                </a:r>
              </a:p>
              <a:p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20345-2399-4F04-ADDD-FAB8EFA17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83287" cy="4748430"/>
              </a:xfrm>
              <a:blipFill>
                <a:blip r:embed="rId3"/>
                <a:stretch>
                  <a:fillRect l="-947" t="-64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9D47BA-9F24-4B36-8369-BDC78E35E856}"/>
              </a:ext>
            </a:extLst>
          </p:cNvPr>
          <p:cNvSpPr txBox="1">
            <a:spLocks/>
          </p:cNvSpPr>
          <p:nvPr/>
        </p:nvSpPr>
        <p:spPr>
          <a:xfrm>
            <a:off x="8543399" y="2277786"/>
            <a:ext cx="3014869" cy="384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MSE ?</a:t>
            </a:r>
          </a:p>
          <a:p>
            <a:pPr marL="0" indent="0">
              <a:buNone/>
            </a:pPr>
            <a:r>
              <a:rPr lang="en-ID" dirty="0"/>
              <a:t>(Mean Squared Error)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dan machine 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</a:t>
            </a:r>
            <a:r>
              <a:rPr lang="en-ID" dirty="0" err="1"/>
              <a:t>seberapa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tebakan</a:t>
            </a:r>
            <a:r>
              <a:rPr lang="en-ID" dirty="0"/>
              <a:t> (</a:t>
            </a:r>
            <a:r>
              <a:rPr lang="en-ID" dirty="0" err="1"/>
              <a:t>prediksi</a:t>
            </a:r>
            <a:r>
              <a:rPr lang="en-ID" dirty="0"/>
              <a:t>) model </a:t>
            </a:r>
            <a:r>
              <a:rPr lang="en-ID" dirty="0" err="1"/>
              <a:t>dari</a:t>
            </a:r>
            <a:r>
              <a:rPr lang="en-ID" dirty="0"/>
              <a:t> data </a:t>
            </a:r>
            <a:r>
              <a:rPr lang="en-ID" dirty="0" err="1"/>
              <a:t>sebenarnya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7977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062995-B1DE-4A7B-97A6-AF06E5D4A8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2070067"/>
              </a:xfrm>
            </p:spPr>
            <p:txBody>
              <a:bodyPr>
                <a:normAutofit fontScale="90000"/>
              </a:bodyPr>
              <a:lstStyle/>
              <a:p>
                <a:pPr marR="521970" indent="0" algn="ctr">
                  <a:spcBef>
                    <a:spcPts val="305"/>
                  </a:spcBef>
                  <a:buNone/>
                </a:pPr>
                <a:r>
                  <a:rPr lang="en-ID" sz="2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Rumus</a:t>
                </a:r>
                <a:r>
                  <a:rPr lang="en-ID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delta </a:t>
                </a:r>
                <a:r>
                  <a:rPr lang="en-ID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:r>
                  <a:rPr lang="en-ID" sz="2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δ)</a:t>
                </a:r>
                <a:br>
                  <a:rPr lang="en-ID" sz="1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r>
                  <a:rPr lang="en-ID" sz="2700" b="1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 </a:t>
                </a: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(t- y)</a:t>
                </a:r>
                <a:r>
                  <a:rPr lang="en-ID" sz="2700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*</a:t>
                </a:r>
                <a:r>
                  <a:rPr lang="en-ID" sz="2700" cap="none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* [1 -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700" i="1" cap="none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ID" sz="2700" i="1" cap="none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)]</a:t>
                </a:r>
                <a:br>
                  <a:rPr lang="en-ID" sz="2700" cap="none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atau </a:t>
                </a:r>
                <a:r>
                  <a:rPr lang="en-ID" sz="2700" cap="none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bisa</a:t>
                </a: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D" sz="2700" cap="none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disederhanakan</a:t>
                </a:r>
                <a:br>
                  <a:rPr lang="en-ID" sz="2700" cap="none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r>
                  <a:rPr lang="en-ID" sz="2700" b="1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 = </a:t>
                </a:r>
                <a:r>
                  <a:rPr lang="en-ID" sz="2700" cap="none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(t- y) * y * (1-y)</a:t>
                </a:r>
                <a:br>
                  <a:rPr lang="en-ID" sz="4400" cap="none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endParaRPr lang="en-ID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062995-B1DE-4A7B-97A6-AF06E5D4A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2070067"/>
              </a:xfrm>
              <a:blipFill>
                <a:blip r:embed="rId2"/>
                <a:stretch>
                  <a:fillRect t="-265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921297-11D8-43D6-B124-CA72C618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152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R="521970" indent="0">
              <a:spcBef>
                <a:spcPts val="305"/>
              </a:spcBef>
              <a:buNone/>
            </a:pPr>
            <a:r>
              <a:rPr lang="en-ID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ID" sz="28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D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D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0.693791</a:t>
            </a:r>
          </a:p>
          <a:p>
            <a:pPr marR="521970" indent="0">
              <a:spcBef>
                <a:spcPts val="305"/>
              </a:spcBef>
              <a:buNone/>
            </a:pPr>
            <a:endParaRPr lang="en-ID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21970" indent="0">
              <a:spcBef>
                <a:spcPts val="305"/>
              </a:spcBef>
              <a:buNone/>
            </a:pPr>
            <a:b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3200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 =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(1- 0.693791) *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0.693791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(1-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0.693791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 </a:t>
            </a:r>
          </a:p>
          <a:p>
            <a:pPr marR="521970" indent="0" algn="just">
              <a:spcBef>
                <a:spcPts val="305"/>
              </a:spcBef>
              <a:buNone/>
            </a:pPr>
            <a:r>
              <a:rPr lang="en-ID" sz="3200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 =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(0.306209) *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0.693791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(0.306209)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D" sz="3200" cap="non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21970" indent="0" algn="just">
              <a:spcBef>
                <a:spcPts val="305"/>
              </a:spcBef>
              <a:buNone/>
            </a:pPr>
            <a:r>
              <a:rPr lang="en-ID" sz="3200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 = </a:t>
            </a:r>
            <a:r>
              <a:rPr lang="en-ID" sz="32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(0.306209) * 0.212445 = </a:t>
            </a:r>
            <a:r>
              <a:rPr lang="en-ID" sz="3200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0.065053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75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66E0-948D-4C51-BA5D-85866985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ID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4AEA-5D8C-423B-B849-9A4B35642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4685047"/>
          </a:xfrm>
        </p:spPr>
        <p:txBody>
          <a:bodyPr>
            <a:normAutofit lnSpcReduction="10000"/>
          </a:bodyPr>
          <a:lstStyle/>
          <a:p>
            <a:pPr marR="521970" indent="0" algn="ctr">
              <a:spcBef>
                <a:spcPts val="305"/>
              </a:spcBef>
              <a:buNone/>
            </a:pPr>
            <a:r>
              <a:rPr lang="en-ID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Rumus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D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Δwi</a:t>
            </a:r>
            <a:r>
              <a:rPr lang="en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R="521970" indent="0" algn="ctr">
              <a:spcBef>
                <a:spcPts val="305"/>
              </a:spcBef>
              <a:buNone/>
            </a:pPr>
            <a:r>
              <a:rPr lang="en-ID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D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ID" cap="non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</a:t>
            </a:r>
            <a:r>
              <a:rPr lang="en-ID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 * </a:t>
            </a:r>
            <a:r>
              <a:rPr lang="en-ID" b="1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ID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zi</a:t>
            </a:r>
            <a:endParaRPr lang="en-ID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 = </a:t>
            </a:r>
            <a:r>
              <a:rPr lang="en-ID" sz="2400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 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 =</a:t>
            </a:r>
            <a:r>
              <a:rPr lang="en-ID" sz="2400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0.065053</a:t>
            </a:r>
          </a:p>
          <a:p>
            <a:pPr marL="0" indent="0">
              <a:buNone/>
            </a:pPr>
            <a:endParaRPr lang="en-ID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Δw1 = 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x 0.065053 x 0.609449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0.039646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Δw2 = 1.0 x 0.065053 x 0.574202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0.037353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Δw3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0.065053 x 0.577545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0.037571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Δw4 = 1.0 x 0.065053 x 0.541534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0.035228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Δw0 = 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x 0.065053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0.065053</a:t>
            </a:r>
          </a:p>
          <a:p>
            <a:pPr marL="0" indent="0">
              <a:buNone/>
            </a:pPr>
            <a:endParaRPr lang="en-ID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06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788E-846B-4605-835E-5C95BEAF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800" b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ID" sz="2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D" sz="2800" b="1" cap="non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800" b="1" cap="none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D" sz="2800" b="1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800" b="1" cap="non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 * </a:t>
            </a:r>
            <a:r>
              <a:rPr lang="en-ID" sz="2800" b="1" cap="non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</a:t>
            </a:r>
            <a:endParaRPr lang="en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88FF4-E58D-4E39-BE72-559F830A6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Diketahui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w1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0.090425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w2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0.380141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w3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0.269648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w4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0.021813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0.065053</a:t>
            </a:r>
          </a:p>
          <a:p>
            <a:pPr marL="0" indent="0">
              <a:buNone/>
            </a:pPr>
            <a:endParaRPr lang="en-ID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 0.065053 x 0.090425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0.005882</a:t>
            </a:r>
            <a:endParaRPr lang="en-ID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400" cap="none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 0.065053 x 0.380141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0.024729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400" cap="none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0.065053 x 0.269648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0.017541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</a:t>
            </a:r>
            <a:r>
              <a:rPr lang="en-ID" sz="2400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D" sz="2400" cap="none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0.065053 x 0.021813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0.001419</a:t>
            </a:r>
            <a:endParaRPr lang="en-ID" sz="2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8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49B88D-4082-486A-8384-6D65F0105A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663508"/>
                <a:ext cx="10515600" cy="1325563"/>
              </a:xfrm>
            </p:spPr>
            <p:txBody>
              <a:bodyPr>
                <a:noAutofit/>
              </a:bodyPr>
              <a:lstStyle/>
              <a:p>
                <a:pPr marR="521970" indent="457200" algn="ctr">
                  <a:spcBef>
                    <a:spcPts val="305"/>
                  </a:spcBef>
                </a:pPr>
                <a:r>
                  <a:rPr lang="en-ID" sz="24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Rumus (</a:t>
                </a:r>
                <a:r>
                  <a:rPr lang="en-ID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δi</a:t>
                </a:r>
                <a:r>
                  <a:rPr lang="en-ID" sz="24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</a:t>
                </a:r>
                <a:br>
                  <a:rPr lang="en-ID" sz="24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r>
                  <a:rPr lang="en-ID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</a:t>
                </a:r>
                <a:r>
                  <a:rPr lang="en-ID" sz="2400" b="1" baseline="-250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ID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:r>
                  <a:rPr lang="en-ID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δ_in</a:t>
                </a:r>
                <a:r>
                  <a:rPr lang="en-ID" sz="2400" b="1" baseline="-250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*</a:t>
                </a:r>
                <a:r>
                  <a:rPr lang="en-ID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* [1 -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24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ID" sz="24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𝑧𝑖𝑛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)]</a:t>
                </a:r>
                <a:b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en-ID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atau</a:t>
                </a:r>
                <a:r>
                  <a:rPr lang="en-ID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bisa</a:t>
                </a:r>
                <a:r>
                  <a:rPr lang="en-ID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D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disederhanakan</a:t>
                </a:r>
                <a:br>
                  <a:rPr lang="en-ID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en-ID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δi</a:t>
                </a:r>
                <a:r>
                  <a:rPr lang="en-ID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= </a:t>
                </a:r>
                <a:r>
                  <a:rPr lang="en-ID" sz="24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δ_in</a:t>
                </a:r>
                <a:r>
                  <a:rPr lang="en-ID" sz="2400" b="1" baseline="-250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</a:t>
                </a:r>
                <a:r>
                  <a:rPr lang="en-ID" sz="2400" b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ID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*</a:t>
                </a:r>
                <a:r>
                  <a:rPr lang="en-ID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zi * (1-zi)</a:t>
                </a:r>
                <a:br>
                  <a:rPr lang="en-ID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br>
                  <a:rPr lang="en-ID" sz="14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</a:br>
                <a:endParaRPr lang="en-ID" sz="36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49B88D-4082-486A-8384-6D65F0105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663508"/>
                <a:ext cx="10515600" cy="1325563"/>
              </a:xfrm>
              <a:blipFill>
                <a:blip r:embed="rId2"/>
                <a:stretch>
                  <a:fillRect t="-3687" b="-3963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E95C6-EED0-4C4F-BA3B-35C09717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0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 </a:t>
            </a:r>
            <a:r>
              <a:rPr lang="en-ID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0.005882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0.024729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0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0.017541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δ_in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0.001419</a:t>
            </a:r>
            <a:endParaRPr lang="en-ID" sz="20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0.609449 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0.574202 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0.577545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ID" sz="20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0.541534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 </a:t>
            </a:r>
            <a:r>
              <a:rPr lang="en-ID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=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0.005882 x 0.609449 x (1- 0.609449) 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1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= 0.005882 x 0.609449 0.390551= </a:t>
            </a:r>
            <a:r>
              <a:rPr lang="en-ID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0.001400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000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=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0.024729 x 0.574202 x (1- 0.574202) 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= 0.024729 x 0.574202 x 0.425798 = </a:t>
            </a:r>
            <a:r>
              <a:rPr lang="en-ID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0.006046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3 </a:t>
            </a:r>
            <a:r>
              <a:rPr lang="en-ID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=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0.017541 x 0.577545 x (1- 0.577545) 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= 0.017541 x 0.577545 x 0.422455 = </a:t>
            </a:r>
            <a:r>
              <a:rPr lang="en-ID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0.004280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4 </a:t>
            </a:r>
            <a:r>
              <a:rPr lang="en-ID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=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0.001419 x 0.541534 x (1- 0.541534) </a:t>
            </a:r>
          </a:p>
          <a:p>
            <a:pPr marL="0" indent="0">
              <a:buNone/>
            </a:pPr>
            <a:r>
              <a:rPr lang="en-ID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δ</a:t>
            </a:r>
            <a:r>
              <a:rPr lang="en-ID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ID" sz="2000" b="1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= 0.001419 x 0.541534 x 0.458466 = </a:t>
            </a:r>
            <a:r>
              <a:rPr lang="en-ID" sz="2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0.000352</a:t>
            </a:r>
          </a:p>
          <a:p>
            <a:pPr marL="0" indent="0">
              <a:buNone/>
            </a:pPr>
            <a:endParaRPr lang="en-ID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D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897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8ACE-B979-4029-9136-798405C3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224071"/>
          </a:xfrm>
        </p:spPr>
        <p:txBody>
          <a:bodyPr>
            <a:normAutofit fontScale="90000"/>
          </a:bodyPr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(baru) = </a:t>
            </a:r>
            <a:r>
              <a:rPr lang="en-US" sz="3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1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l-GR" sz="32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E80AF-35BA-476B-AF14-A2EC4E7FD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802"/>
            <a:ext cx="10515600" cy="4271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ID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Δw0 = </a:t>
            </a:r>
            <a:r>
              <a:rPr lang="en-ID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0.065053 </a:t>
            </a:r>
            <a:r>
              <a:rPr lang="en-ID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Δw1 = </a:t>
            </a:r>
            <a:r>
              <a:rPr lang="en-ID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0.039646 </a:t>
            </a:r>
            <a:r>
              <a:rPr lang="en-ID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Δw2 = </a:t>
            </a:r>
            <a:r>
              <a:rPr lang="en-ID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0.037353 </a:t>
            </a:r>
            <a:r>
              <a:rPr lang="en-ID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Δw3</a:t>
            </a:r>
            <a:r>
              <a:rPr lang="en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2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0.037571 </a:t>
            </a:r>
            <a:r>
              <a:rPr lang="en-ID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Δw4 = </a:t>
            </a:r>
            <a:r>
              <a:rPr lang="en-ID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0.035228</a:t>
            </a:r>
            <a:endParaRPr lang="en-ID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w0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0.376968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w1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0.090425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w2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0.380141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w3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0.269648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w4 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0.021813</a:t>
            </a:r>
          </a:p>
          <a:p>
            <a:pPr marL="0" indent="0">
              <a:buNone/>
            </a:pPr>
            <a:endParaRPr lang="en-ID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0.376968 + 0.065053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0.442021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0.090425 + 0.039646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0.130071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0.380141 + 0.037353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0.417494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0.269648 + 0.037571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0.307219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0.021813 + 0.035228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0.057041</a:t>
            </a:r>
            <a:endParaRPr lang="en-ID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32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5C64-BB34-4EAB-8853-1555CB3A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6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3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1i 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ά * </a:t>
            </a:r>
            <a:r>
              <a:rPr lang="en-ID" sz="3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x1</a:t>
            </a:r>
            <a:b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D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6506-6645-475D-A939-5A464BF6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1.0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x1=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0.356940</a:t>
            </a:r>
            <a:endParaRPr lang="en-ID" sz="2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0.001400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0.006046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0.004280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0.000352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 1.0 x 0.001400 x 0.356940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0.000500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0.006046 x 0.356940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0.002158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0.004280 x 0.356940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0.001528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0.000352 x 0.356940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0.000126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aseline="-25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262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6955-082A-42AC-BE32-65F0FFA3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1i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1i</a:t>
            </a:r>
            <a:br>
              <a:rPr lang="en-US" sz="4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F4E-FB79-4234-B8E8-A2AD869AF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0.000500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0.002158</a:t>
            </a:r>
            <a:r>
              <a:rPr lang="en-ID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0.001528</a:t>
            </a:r>
            <a:r>
              <a:rPr lang="en-ID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0.000126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v11=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0.379229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v12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0.307841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v13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0.064368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v14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0.114459</a:t>
            </a:r>
          </a:p>
          <a:p>
            <a:pPr marL="0" indent="0">
              <a:buNone/>
            </a:pP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0.379229 + 0.000500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0.379729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0.307841 + 0.002158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0.309999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0.064368 + 0.001528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0.065896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0.114459 + 0.000126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0.114585</a:t>
            </a: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780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5C64-BB34-4EAB-8853-1555CB3A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6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3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2i 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ά * </a:t>
            </a:r>
            <a:r>
              <a:rPr lang="en-ID" sz="3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x2</a:t>
            </a:r>
            <a:b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D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6506-6645-475D-A939-5A464BF6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1.0 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x2 = 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0.158640</a:t>
            </a:r>
            <a:endParaRPr lang="en-ID" sz="2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0.001400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0.006046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0.004280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0.000352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0.001400 x 0.158640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0.000222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0.006046 x 0.158640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0.000959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0.004280 x 0.158640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0.000679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1.0 x 0.000352 x 0.158640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0.000056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aseline="-25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885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6955-082A-42AC-BE32-65F0FFA3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2i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2i</a:t>
            </a:r>
            <a:br>
              <a:rPr lang="en-US" sz="4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F4E-FB79-4234-B8E8-A2AD869AF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marR="521970" indent="0" algn="just">
              <a:spcBef>
                <a:spcPts val="305"/>
              </a:spcBef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v21=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0.077813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v22=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0.243235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v23=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0.012334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v24=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0.385138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0.000222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0.000959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0.000679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0.000056</a:t>
            </a: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0.077813 + 0.000222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0.078035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0.243235 + 0.000959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0.244194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0.012334 + 0.000679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0.013013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0.385138 + 0.000056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0.385194</a:t>
            </a: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941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5C64-BB34-4EAB-8853-1555CB3A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6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31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0i </a:t>
            </a:r>
            <a:r>
              <a:rPr lang="en-ID" sz="3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ά * </a:t>
            </a:r>
            <a:r>
              <a:rPr lang="en-ID" sz="3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b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D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6506-6645-475D-A939-5A464BF6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= 1.0</a:t>
            </a:r>
            <a:endParaRPr lang="en-ID" sz="2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0.001400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0.006046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0.004280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l-GR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0.000352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0.001400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0.001400</a:t>
            </a: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0.006046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0.006046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1.0 x 0.004280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0.004280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D" sz="28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1.0 x 0.000352 = </a:t>
            </a:r>
            <a:r>
              <a:rPr lang="en-ID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0.000352</a:t>
            </a:r>
            <a:endParaRPr lang="en-ID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aseline="-25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33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6955-082A-42AC-BE32-65F0FFA3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0i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0i</a:t>
            </a:r>
            <a:br>
              <a:rPr lang="en-US" sz="4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F4E-FB79-4234-B8E8-A2AD869AF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Diketahui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v01=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0.297291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v02=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0.150549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v03=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0.287773</a:t>
            </a:r>
            <a:r>
              <a:rPr lang="en-ID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v04=</a:t>
            </a:r>
            <a:r>
              <a:rPr lang="en-ID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0.064566</a:t>
            </a:r>
          </a:p>
          <a:p>
            <a:pPr marL="0" indent="0">
              <a:buNone/>
            </a:pP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01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0.001400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02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0.006046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03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0.004280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Δv</a:t>
            </a:r>
            <a:r>
              <a:rPr lang="en-ID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04 </a:t>
            </a:r>
            <a:r>
              <a:rPr lang="en-ID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0.0003526</a:t>
            </a: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0.297291 + 0.001400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0.298691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0.150549 + 0.006046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0.156595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0.287773 + 0.004280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0.292053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0.064566 + 0.000352 =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0.064919</a:t>
            </a:r>
            <a:endParaRPr lang="en-ID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56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DA14-F28F-45F5-8BBB-A1EBF582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Nilai (v</a:t>
            </a:r>
            <a:r>
              <a:rPr lang="en-US" baseline="-25000" dirty="0"/>
              <a:t>1i</a:t>
            </a:r>
            <a:r>
              <a:rPr lang="en-US" dirty="0"/>
              <a:t>,v</a:t>
            </a:r>
            <a:r>
              <a:rPr lang="en-US" baseline="-25000" dirty="0"/>
              <a:t>2i</a:t>
            </a:r>
            <a:r>
              <a:rPr lang="en-US" dirty="0"/>
              <a:t>,v</a:t>
            </a:r>
            <a:r>
              <a:rPr lang="en-US" baseline="-25000" dirty="0"/>
              <a:t>0i</a:t>
            </a:r>
            <a:r>
              <a:rPr lang="en-US" dirty="0"/>
              <a:t>,w</a:t>
            </a:r>
            <a:r>
              <a:rPr lang="en-US" baseline="-25000" dirty="0"/>
              <a:t>i</a:t>
            </a:r>
            <a:r>
              <a:rPr lang="en-US" dirty="0"/>
              <a:t>) </a:t>
            </a:r>
            <a:r>
              <a:rPr lang="en-US" dirty="0" err="1"/>
              <a:t>Baru</a:t>
            </a:r>
            <a:endParaRPr lang="en-ID" baseline="-2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D41C8-A896-4728-9D04-933C83AB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input </a:t>
            </a: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0.379729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0.309999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0.065896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0.114585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0.078035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0.244194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0.013013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0.385194</a:t>
            </a:r>
          </a:p>
          <a:p>
            <a:pPr marL="0" indent="0">
              <a:buNone/>
            </a:pP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bias </a:t>
            </a: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</a:t>
            </a:r>
            <a:endParaRPr lang="en-US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0.298691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0.156595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0.292053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0.064919</a:t>
            </a:r>
          </a:p>
          <a:p>
            <a:pPr marL="0" indent="0">
              <a:buNone/>
            </a:pP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hidden </a:t>
            </a: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</a:t>
            </a:r>
            <a:endParaRPr lang="en-US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0.130071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0.417494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0.307219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0.057041</a:t>
            </a:r>
          </a:p>
          <a:p>
            <a:pPr marL="0" indent="0">
              <a:buNone/>
            </a:pP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Bobot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bias </a:t>
            </a:r>
            <a:r>
              <a:rPr lang="en-ID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</a:t>
            </a:r>
            <a:r>
              <a:rPr lang="en-ID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output</a:t>
            </a:r>
            <a:endParaRPr lang="en-ID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0.442021</a:t>
            </a:r>
          </a:p>
          <a:p>
            <a:pPr marL="0" indent="0">
              <a:buNone/>
            </a:pPr>
            <a:endParaRPr lang="en-ID" sz="28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8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sz="2800" baseline="-25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0656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1972-0091-4BF4-A981-0241D7FF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751"/>
            <a:ext cx="10515600" cy="3369477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Dari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dilanjutkan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Epoch 1 Data 2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error = 0.01, pada multiplier 3966 target error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dicapai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1054 Epoch.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dibuktikan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perhitungan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02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4CC49E-2B3B-4385-9782-60AA441DE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19" y="606392"/>
            <a:ext cx="10160135" cy="531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74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283D2-F6EE-4C19-BCF3-69C2DA330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TERIMAKASIH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236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224</TotalTime>
  <Words>1703</Words>
  <Application>Microsoft Office PowerPoint</Application>
  <PresentationFormat>Widescreen</PresentationFormat>
  <Paragraphs>206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Cambria Math</vt:lpstr>
      <vt:lpstr>Century Gothic</vt:lpstr>
      <vt:lpstr>Times New Roman</vt:lpstr>
      <vt:lpstr>Wingdings</vt:lpstr>
      <vt:lpstr>Wingdings 3</vt:lpstr>
      <vt:lpstr>Ion</vt:lpstr>
      <vt:lpstr>PROYEK AKHIR AI  Dosen Pengampu : H. M. Faisal Amin, M.Kom</vt:lpstr>
      <vt:lpstr>NIM : 310125023966 | 4 digit: 3966 Multiplier : 0.3966  DATA Learning : 1.0 LEARNING RATE : 0.01 Konstanta e : 2.71828183  DATA TRAINING (sebelum skalasi):   Data 1: x1=0.9, x2=0.4, t=1   Data 2: x1=0.73, x2=0.85, t=0 ↳ [Hasil setelah dikalikan 0.3966] target tetap: DATA TRAINING (setelah skalasi):   Data 1: x1 = 0.356940, x2 = 0.158640, t = 1   Data 2: x1 = 0.289518, x2 = 0.337110, t = 0 </vt:lpstr>
      <vt:lpstr>PowerPoint Presentation</vt:lpstr>
      <vt:lpstr>EPOCH 1 - DATA 1 </vt:lpstr>
      <vt:lpstr>Rumus Penjumlahan Terbobot (z_ini) z_ini = v0i + (v1i * x1)+(v2i * x2)  </vt:lpstr>
      <vt:lpstr>Rumus pengaktifan (z) zi = 1/(1+e^(-〖z_〗_ini ) )    </vt:lpstr>
      <vt:lpstr>EPOCH 1 - DATA 1 </vt:lpstr>
      <vt:lpstr>Rumus perkalian linier Combiner y_in = w0 + (w1*z1) + (w2 * z2) + (w3*z3) + (w4 * z4) </vt:lpstr>
      <vt:lpstr>  Rumus pengaktifkan (y) y = 1/(1+e^(-y_in) ) </vt:lpstr>
      <vt:lpstr>Rumus delta (δ) δ = (t- y) * (1/(1+e^(-y_in) )) * [1 - (1/(1+e^(-y_in) ))] atau bisa disederhanakan δ = (t- y) * y * (1-y) </vt:lpstr>
      <vt:lpstr>Update Bobot Hidden</vt:lpstr>
      <vt:lpstr>Rumus (δ_ini) δ_ini = δ * wi</vt:lpstr>
      <vt:lpstr>Rumus (δi) δi = δ_ini* (1/(1+e^(-z_in) )) * [1 - (1/(1+e^(-zin) ))] atau bisa disederhanakan δi = δ_ini * zi * (1-zi)  </vt:lpstr>
      <vt:lpstr>Update Bobot Input  Rumus wi  wi (baru) = wi + Δwi  </vt:lpstr>
      <vt:lpstr>Rumus (v11)  Δv1i = ά * δ * x1  </vt:lpstr>
      <vt:lpstr>Rumus (vi) v1i (baru) = v1i+ Δv1i </vt:lpstr>
      <vt:lpstr>Rumus (v11)  Δv2i = ά * δ * x2  </vt:lpstr>
      <vt:lpstr>Rumus (vi) v2i (baru) = v2i+ Δv2i </vt:lpstr>
      <vt:lpstr>Rumus (v11)  Δv0i = ά * δ  </vt:lpstr>
      <vt:lpstr>Rumus (vi) v0i (baru) = v0i+ Δv0i </vt:lpstr>
      <vt:lpstr>Nilai (v1i,v2i,v0i,wi) Baru</vt:lpstr>
      <vt:lpstr>Dari Bobot Baru tadi lalu dilanjutkan ke Epoch 1 Data 2 dengan cara yang sama, sampai kemudian di dapat Target error = 0.01, pada multiplier 3966 target error dapat dicapai dengan 1054 Epoch. Ini dapat dibuktikan dengan melakukan perhitungan menggunakan aplikasi yang saya buat dengan bahasa pemrograman py sebagai berikut.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 Bidang Keuangan dan Aset</dc:creator>
  <cp:lastModifiedBy>Sub Bidang Keuangan dan Aset</cp:lastModifiedBy>
  <cp:revision>2</cp:revision>
  <dcterms:created xsi:type="dcterms:W3CDTF">2026-07-05T06:19:20Z</dcterms:created>
  <dcterms:modified xsi:type="dcterms:W3CDTF">2026-07-05T10:04:02Z</dcterms:modified>
</cp:coreProperties>
</file>